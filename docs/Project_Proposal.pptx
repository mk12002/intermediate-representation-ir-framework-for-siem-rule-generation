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A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Syntax
Validity (SVR)</c:v>
                </c:pt>
                <c:pt idx="1">
                  <c:v>Field
Hallucination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45</c:v>
                </c:pt>
                <c:pt idx="2">
                  <c:v>50</c:v>
                </c:pt>
                <c:pt idx="3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E8-4E17-BF94-B6A45539AE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Framework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Syntax
Validity (SVR)</c:v>
                </c:pt>
                <c:pt idx="1">
                  <c:v>Field
Hallucination</c:v>
                </c:pt>
                <c:pt idx="2">
                  <c:v>Precision</c:v>
                </c:pt>
                <c:pt idx="3">
                  <c:v>Recall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</c:v>
                </c:pt>
                <c:pt idx="1">
                  <c:v>5</c:v>
                </c:pt>
                <c:pt idx="2">
                  <c:v>85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E8-4E17-BF94-B6A45539AE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13294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1E3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875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858000" cy="68580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108960"/>
            <a:ext cx="5120640" cy="5120640"/>
          </a:xfrm>
          <a:prstGeom prst="ellipse">
            <a:avLst/>
          </a:prstGeom>
          <a:solidFill>
            <a:srgbClr val="0A17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 —  AI / AGENTIC SYSTEMS FOR CYBERSECURITY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058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to</a:t>
            </a:r>
            <a:endParaRPr lang="en-US" sz="5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Executable Detection Logic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Intermediate-Representation Framework for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SIEM Detection Rule Generation, Validation &amp; Repair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53492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+ Agentic AI / LLM systems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34840" y="4892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53492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Compiler-style IR between language and SIEM code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4892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5029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5320" y="53492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Sigma, KQL &amp; SPL rules — validated and self-repaired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0136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91640" y="207568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writing SIEM detection rules is slow, error-prone, and a real SOC bottleneck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880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91640" y="2862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Alone Fail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91640" y="31546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single-prompt hallucination problem — concrete failure modes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95935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91640" y="39410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Gap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91640" y="423367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tools (Uncoder AI, RulePilot, Copilot) don't solve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928616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038344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91640" y="50200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91640" y="531266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IR + multi-agent LangGraph pipeline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09360" y="16916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1801368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6092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Better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60920" y="207568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validation, repair, and cross-platform generation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2770632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2880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60920" y="2862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Contributions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60920" y="31546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vs. prior academic and industry work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3849624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92240" y="3959352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360920" y="39410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360920" y="423367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baselines, ablations, expected results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4928616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92240" y="5038344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360920" y="50200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Scope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360920" y="531266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timeline, risks, and future extensions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SOCs Are Drowning — Detection Rules Are the Lifeline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environments generate millions of log events per day. The only practical way analysts find malicious activity is through detection rules — structured queries that run continuously and trigger alerts on suspicious patterns. Writing a single good rule is extraordinarily hard.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rule author must simultaneously know: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behaviour (credential stuffing, lateral movement, data staging)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log sources &amp; field names per SIEM (AccountName vs. user vs. userIdentity.arn)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syntax of the target language (KQL, SPL, Sigma YAML, YARA-L)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statistical logic to suppress false positives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MITRE ATT&amp;CK mapping for coverage tracking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5532120"/>
            <a:ext cx="6492240" cy="868680"/>
          </a:xfrm>
          <a:prstGeom prst="roundRect">
            <a:avLst>
              <a:gd name="adj" fmla="val 7368"/>
            </a:avLst>
          </a:prstGeom>
          <a:solidFill>
            <a:srgbClr val="16243F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5733288"/>
            <a:ext cx="457200" cy="45720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9" name="Image 0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8430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5532120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single skill problem — it's six specialist skills compressed into one prompt, which is exactly why direct LLM generation breaks down.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60920" y="1600200"/>
            <a:ext cx="4160520" cy="4343400"/>
          </a:xfrm>
          <a:prstGeom prst="roundRect">
            <a:avLst>
              <a:gd name="adj" fmla="val 1758"/>
            </a:avLst>
          </a:prstGeom>
          <a:solidFill>
            <a:srgbClr val="0B1E3F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80960" y="21488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8 hrs</a:t>
            </a:r>
            <a:endParaRPr lang="en-US" sz="5000" dirty="0"/>
          </a:p>
        </p:txBody>
      </p:sp>
      <p:sp>
        <p:nvSpPr>
          <p:cNvPr id="14" name="Text 11"/>
          <p:cNvSpPr/>
          <p:nvPr/>
        </p:nvSpPr>
        <p:spPr>
          <a:xfrm>
            <a:off x="768096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detection rule — even for experienced Tier-3 engineers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680960" y="3794760"/>
            <a:ext cx="3474720" cy="0"/>
          </a:xfrm>
          <a:prstGeom prst="line">
            <a:avLst/>
          </a:prstGeom>
          <a:noFill/>
          <a:ln w="12700">
            <a:solidFill>
              <a:srgbClr val="E2E8F0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80960" y="3931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500–2,000+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7680960" y="47091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 enterprise SOC must author and maintain, often across 2–3 SIEM/EDR platforms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680960" y="5440680"/>
            <a:ext cx="3474720" cy="0"/>
          </a:xfrm>
          <a:prstGeom prst="line">
            <a:avLst/>
          </a:prstGeom>
          <a:noFill/>
          <a:ln w="12700">
            <a:solidFill>
              <a:srgbClr val="E2E8F0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0" y="5532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&lt;25% of MITRE ATT&amp;CK   |   FP rate: 40–60% of alerts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Bottlenecks &amp; The Detection-Lag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1012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310896" cy="310896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6" name="Image 0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1924812"/>
            <a:ext cx="192024" cy="192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013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rule authoring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2219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 hrs/rule, requires Tier-3 expertise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33088" y="1691640"/>
            <a:ext cx="331012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856232"/>
            <a:ext cx="310896" cy="310896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1" name="Image 1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924812"/>
            <a:ext cx="192024" cy="192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7448" y="18013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syntax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97680" y="22219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rewritten for every SIEM (KQL ≠ SPL ≠ Sigma)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063240"/>
            <a:ext cx="331012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27832"/>
            <a:ext cx="310896" cy="310896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6" name="Image 2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296412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1729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inconsistency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4672" y="35935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differing field names per environment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133088" y="3063240"/>
            <a:ext cx="331012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97680" y="3227832"/>
            <a:ext cx="310896" cy="310896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1" name="Image 3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3296412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27448" y="31729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false-positive rates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297680" y="35935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of alerts are false positives → analyst fatigue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434840"/>
            <a:ext cx="331012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599432"/>
            <a:ext cx="310896" cy="310896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6" name="Image 4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4668012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45445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detection onboarding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804672" y="49651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Days–weeks from threat report to deployed rule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133088" y="4434840"/>
            <a:ext cx="3310128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297680" y="4599432"/>
            <a:ext cx="310896" cy="310896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31" name="Image 5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4668012"/>
            <a:ext cx="192024" cy="1920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27448" y="454456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ATT&amp;CK coverage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297680" y="496519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SOCs cover under 25% of techniques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589520" y="169164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0B1E3F"/>
          </a:solidFill>
          <a:ln/>
        </p:spPr>
      </p:sp>
      <p:sp>
        <p:nvSpPr>
          <p:cNvPr id="35" name="Text 27"/>
          <p:cNvSpPr/>
          <p:nvPr/>
        </p:nvSpPr>
        <p:spPr>
          <a:xfrm>
            <a:off x="786384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METRIC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Lag</a:t>
            </a:r>
            <a:endParaRPr lang="en-US" sz="2200" dirty="0"/>
          </a:p>
        </p:txBody>
      </p:sp>
      <p:sp>
        <p:nvSpPr>
          <p:cNvPr id="37" name="Shape 29"/>
          <p:cNvSpPr/>
          <p:nvPr/>
        </p:nvSpPr>
        <p:spPr>
          <a:xfrm>
            <a:off x="7863840" y="2788920"/>
            <a:ext cx="128016" cy="12801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8" name="Text 30"/>
          <p:cNvSpPr/>
          <p:nvPr/>
        </p:nvSpPr>
        <p:spPr>
          <a:xfrm>
            <a:off x="8092440" y="2670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9281160" y="26700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 published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7863840" y="3209544"/>
            <a:ext cx="128016" cy="12801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41" name="Text 33"/>
          <p:cNvSpPr/>
          <p:nvPr/>
        </p:nvSpPr>
        <p:spPr>
          <a:xfrm>
            <a:off x="8092440" y="30906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days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9281160" y="30906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reads &amp; prioritizes report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7863840" y="3630168"/>
            <a:ext cx="128016" cy="12801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44" name="Text 36"/>
          <p:cNvSpPr/>
          <p:nvPr/>
        </p:nvSpPr>
        <p:spPr>
          <a:xfrm>
            <a:off x="8092440" y="35112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days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9281160" y="35112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writes the rule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7863840" y="4050792"/>
            <a:ext cx="128016" cy="12801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47" name="Text 39"/>
          <p:cNvSpPr/>
          <p:nvPr/>
        </p:nvSpPr>
        <p:spPr>
          <a:xfrm>
            <a:off x="8092440" y="3931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days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9281160" y="3931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tested in staging</a:t>
            </a:r>
            <a:endParaRPr lang="en-US" sz="1150" dirty="0"/>
          </a:p>
        </p:txBody>
      </p:sp>
      <p:sp>
        <p:nvSpPr>
          <p:cNvPr id="49" name="Shape 41"/>
          <p:cNvSpPr/>
          <p:nvPr/>
        </p:nvSpPr>
        <p:spPr>
          <a:xfrm>
            <a:off x="7863840" y="4471416"/>
            <a:ext cx="128016" cy="128016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50" name="Text 42"/>
          <p:cNvSpPr/>
          <p:nvPr/>
        </p:nvSpPr>
        <p:spPr>
          <a:xfrm>
            <a:off x="8092440" y="43525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0.5–1 day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9281160" y="43525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deployed to production</a:t>
            </a:r>
            <a:endParaRPr lang="en-US" sz="1150" dirty="0"/>
          </a:p>
        </p:txBody>
      </p:sp>
      <p:sp>
        <p:nvSpPr>
          <p:cNvPr id="52" name="Shape 44"/>
          <p:cNvSpPr/>
          <p:nvPr/>
        </p:nvSpPr>
        <p:spPr>
          <a:xfrm>
            <a:off x="7863840" y="4892040"/>
            <a:ext cx="3474720" cy="0"/>
          </a:xfrm>
          <a:prstGeom prst="line">
            <a:avLst/>
          </a:prstGeom>
          <a:noFill/>
          <a:ln w="12700">
            <a:solidFill>
              <a:srgbClr val="E2E8F0">
                <a:alpha val="30000"/>
              </a:srgbClr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7863840" y="50109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lag today:</a:t>
            </a:r>
            <a:endParaRPr lang="en-US" sz="1300" dirty="0"/>
          </a:p>
        </p:txBody>
      </p:sp>
      <p:sp>
        <p:nvSpPr>
          <p:cNvPr id="54" name="Text 46"/>
          <p:cNvSpPr/>
          <p:nvPr/>
        </p:nvSpPr>
        <p:spPr>
          <a:xfrm>
            <a:off x="7863840" y="5349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3–11 days</a:t>
            </a:r>
            <a:endParaRPr lang="en-US" sz="3400" dirty="0"/>
          </a:p>
        </p:txBody>
      </p:sp>
      <p:sp>
        <p:nvSpPr>
          <p:cNvPr id="55" name="Text 47"/>
          <p:cNvSpPr/>
          <p:nvPr/>
        </p:nvSpPr>
        <p:spPr>
          <a:xfrm>
            <a:off x="7863840" y="59893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target: rule-writing + testing reduced to minutes</a:t>
            </a:r>
            <a:endParaRPr lang="en-US" sz="1150" dirty="0"/>
          </a:p>
        </p:txBody>
      </p:sp>
      <p:sp>
        <p:nvSpPr>
          <p:cNvPr id="56" name="Text 4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57" name="Text 4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WHY LLMS ALONE FAIL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Single-Prompt Failure Mode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LLM prompt must simultaneously parse threat semantics, map MITRE ATT&amp;CK, resolve platform-specific field names, generate valid syntax, and encode temporal logic — it systematically hallucinates.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624328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7" name="Image 0" descr="/home/claude/icons/bu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729484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80360" y="25877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25–40%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41248" y="31729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Hallucination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1248" y="3520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query syntax — wrong operators, malformed YAML, mixed dialects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44568" y="2423160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13294B"/>
          </a:solidFill>
          <a:ln/>
        </p:spPr>
      </p:sp>
      <p:sp>
        <p:nvSpPr>
          <p:cNvPr id="12" name="Shape 9"/>
          <p:cNvSpPr/>
          <p:nvPr/>
        </p:nvSpPr>
        <p:spPr>
          <a:xfrm>
            <a:off x="4745736" y="2624328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3" name="Image 1" descr="/home/claude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892" y="2729484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84848" y="25877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30–50%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745736" y="31729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Hallucination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745736" y="3520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field names that don't exist in any real schema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449056" y="2423160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13294B"/>
          </a:solidFill>
          <a:ln/>
        </p:spPr>
      </p:sp>
      <p:sp>
        <p:nvSpPr>
          <p:cNvPr id="18" name="Shape 14"/>
          <p:cNvSpPr/>
          <p:nvPr/>
        </p:nvSpPr>
        <p:spPr>
          <a:xfrm>
            <a:off x="8650224" y="2624328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9" name="Image 2" descr="/home/claude/icons/random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0" y="2729484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89336" y="258775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20–35%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650224" y="31729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650224" y="3520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aggregations, missing windows, misread enum values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453128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13294B"/>
          </a:solidFill>
          <a:ln/>
        </p:spPr>
      </p:sp>
      <p:sp>
        <p:nvSpPr>
          <p:cNvPr id="24" name="Shape 19"/>
          <p:cNvSpPr/>
          <p:nvPr/>
        </p:nvSpPr>
        <p:spPr>
          <a:xfrm>
            <a:off x="841248" y="4654296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5" name="Image 3" descr="/home/claude/icons/targ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4759452"/>
            <a:ext cx="265176" cy="2651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880360" y="4617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841248" y="52029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Mismap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841248" y="55504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MITRE technique/tactic assignment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44568" y="4453128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13294B"/>
          </a:solidFill>
          <a:ln/>
        </p:spPr>
      </p:sp>
      <p:sp>
        <p:nvSpPr>
          <p:cNvPr id="30" name="Shape 24"/>
          <p:cNvSpPr/>
          <p:nvPr/>
        </p:nvSpPr>
        <p:spPr>
          <a:xfrm>
            <a:off x="4745736" y="4654296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31" name="Image 4" descr="/home/claude/icons/exclamatio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0892" y="4759452"/>
            <a:ext cx="265176" cy="26517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784848" y="4617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2400" dirty="0"/>
          </a:p>
        </p:txBody>
      </p:sp>
      <p:sp>
        <p:nvSpPr>
          <p:cNvPr id="33" name="Text 26"/>
          <p:cNvSpPr/>
          <p:nvPr/>
        </p:nvSpPr>
        <p:spPr>
          <a:xfrm>
            <a:off x="4745736" y="52029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Detection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4745736" y="55504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filters → massive false-positive rates, alert fatigue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449056" y="4453128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13294B"/>
          </a:solidFill>
          <a:ln/>
        </p:spPr>
      </p:sp>
      <p:sp>
        <p:nvSpPr>
          <p:cNvPr id="36" name="Shape 29"/>
          <p:cNvSpPr/>
          <p:nvPr/>
        </p:nvSpPr>
        <p:spPr>
          <a:xfrm>
            <a:off x="8650224" y="4654296"/>
            <a:ext cx="420624" cy="420624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37" name="Image 5" descr="/home/claude/icons/networ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5380" y="4759452"/>
            <a:ext cx="265176" cy="26517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689336" y="4617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10–20%</a:t>
            </a:r>
            <a:endParaRPr lang="en-US" sz="2400" dirty="0"/>
          </a:p>
        </p:txBody>
      </p:sp>
      <p:sp>
        <p:nvSpPr>
          <p:cNvPr id="39" name="Text 31"/>
          <p:cNvSpPr/>
          <p:nvPr/>
        </p:nvSpPr>
        <p:spPr>
          <a:xfrm>
            <a:off x="8650224" y="520293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Confusion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8650224" y="555040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KQL/SPL/Sigma syntax mixed together — rule won't parse anywhere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WHY LLMS ALONE FAIL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Semantic Disconnect — and How Compilers Solved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semantic gaps separate intent from executable code: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760720" cy="868680"/>
          </a:xfrm>
          <a:prstGeom prst="roundRect">
            <a:avLst>
              <a:gd name="adj" fmla="val 7368"/>
            </a:avLst>
          </a:prstGeom>
          <a:solidFill>
            <a:srgbClr val="0B1E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214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Human Intent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4323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“Detect credential stuffing: many usernames, one IP”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1: Threat → Telemetry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5760720" cy="868680"/>
          </a:xfrm>
          <a:prstGeom prst="roundRect">
            <a:avLst>
              <a:gd name="adj" fmla="val 7368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644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Detection Logic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5753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 · aggregation · threshold · MITRE T1110.004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2: Logic → Platform Syntax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760720" cy="868680"/>
          </a:xfrm>
          <a:prstGeom prst="roundRect">
            <a:avLst>
              <a:gd name="adj" fmla="val 7368"/>
            </a:avLst>
          </a:prstGeom>
          <a:solidFill>
            <a:srgbClr val="0B1E3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074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Executable Rule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71830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KQL / SPL / Sigma syntax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554480"/>
            <a:ext cx="4800600" cy="4572000"/>
          </a:xfrm>
          <a:prstGeom prst="roundRect">
            <a:avLst>
              <a:gd name="adj" fmla="val 1600"/>
            </a:avLst>
          </a:prstGeom>
          <a:solidFill>
            <a:srgbClr val="0B1E3F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60-YEAR-OLD ANSWER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0" y="20574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Representations (Compiler Theory)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2743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compiler goes straight from source to machine code: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3108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→  AST  →  Bytecode (IR)  →  Machine Code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95160" y="3657600"/>
            <a:ext cx="4023360" cy="0"/>
          </a:xfrm>
          <a:prstGeom prst="line">
            <a:avLst/>
          </a:prstGeom>
          <a:noFill/>
          <a:ln w="12700">
            <a:solidFill>
              <a:srgbClr val="E2E8F0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3794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the same idea to detection engineering: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41605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SOP  →  Multi-Agent Parsing  →  Security IR (JSON)  →  KQL / Sigma / SPL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50749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 captures WHAT to detect — never HOW to express it in a specific query language. It becomes the single source of truth for every platform-specific rule.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Tools Don't Solve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Uncoder AI (SOC Prime)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1248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→ rules, multi-platform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4231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Proprietary; IOC-based only, no behavioural reasoning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44568" y="164592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45736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RulePilot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5736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autonomous generation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5736" y="24231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Single-prompt, no IR layer, limited validation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49056" y="164592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50224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AI Assistant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50224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SPL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50224" y="24231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Single-platform only; no cross-platform portability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64408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 for Security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" y="3721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in Sentinel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40416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Microsoft-only, general-purpose, not detection-focused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44568" y="3264408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45736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CLI (pySigma)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45736" y="3721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→ platform rule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5736" y="40416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pre-written Sigma; no NL understanding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49056" y="3264408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50224" y="3401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Decider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650224" y="3721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 aid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50224" y="40416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only — no rule generation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49240"/>
            <a:ext cx="10908792" cy="1051560"/>
          </a:xfrm>
          <a:prstGeom prst="roundRect">
            <a:avLst>
              <a:gd name="adj" fmla="val 6087"/>
            </a:avLst>
          </a:prstGeom>
          <a:solidFill>
            <a:srgbClr val="0B1E3F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4864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— NO EXISTING WORK COMBINES ALL SIX: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57790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NL extraction  +  structured Security IR  +  OCSF/ASIM schema normalization  +  cross-platform generation (Sigma/KQL/SPL)  +  closed-loop telemetry validation  +  empirical benchmarking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RESEARCH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Problem Statement &amp; Research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0908792" cy="1371600"/>
          </a:xfrm>
          <a:prstGeom prst="roundRect">
            <a:avLst>
              <a:gd name="adj" fmla="val 4667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10378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we reliably convert unstructured natural-language cybersecurity documents into syntactically valid, semantically correct, and operationally effective SIEM detection rules across multiple platforms — while minimizing hallucinations, false positives, and manual intervention?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1624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46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32278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 IR reduce hallucination in AI-generated SIEM rules vs. direct LLM generation?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6208" y="315468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16243F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3246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96328" y="322783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multi-agent decomposition improve extraction accuracy for entities, behaviours &amp; MITRE mappings?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16243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43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3251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OCSF/ASIM-aware generation achieve &gt;90% field-mapping accuracy across SIEM platforms?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6208" y="425196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1624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43434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96328" y="43251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closed-loop validation + repair improve precision/recall of generated rules?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16243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406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5422392"/>
            <a:ext cx="9765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framework compare against direct-LLM baselines on standardized benchmarks?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IR-Centred, Multi-Agent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detection-engineering framework that converts unstructured NL documents — SOPs, CTI reports, analyst notes — into validated, deployment-ready rules for Sigma, Microsoft Sentinel KQL, and Splunk SPL, via a schema-aware Security Intermediate Representation.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755648" cy="1691640"/>
          </a:xfrm>
          <a:prstGeom prst="roundRect">
            <a:avLst>
              <a:gd name="adj" fmla="val 3784"/>
            </a:avLst>
          </a:prstGeom>
          <a:solidFill>
            <a:srgbClr val="0B1E3F"/>
          </a:solidFill>
          <a:ln/>
        </p:spPr>
      </p:sp>
      <p:sp>
        <p:nvSpPr>
          <p:cNvPr id="6" name="Shape 4"/>
          <p:cNvSpPr/>
          <p:nvPr/>
        </p:nvSpPr>
        <p:spPr>
          <a:xfrm>
            <a:off x="1271016" y="2944368"/>
            <a:ext cx="493776" cy="493776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7" name="Image 0" descr="/home/claude/icons/fi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04495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5204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" y="38862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/ CTI report / analyst note</a:t>
            </a:r>
            <a:endParaRPr lang="en-US" sz="950" dirty="0"/>
          </a:p>
        </p:txBody>
      </p:sp>
      <p:pic>
        <p:nvPicPr>
          <p:cNvPr id="10" name="Image 1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294" y="3479292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91740" y="2743200"/>
            <a:ext cx="1755648" cy="1691640"/>
          </a:xfrm>
          <a:prstGeom prst="roundRect">
            <a:avLst>
              <a:gd name="adj" fmla="val 3784"/>
            </a:avLst>
          </a:prstGeom>
          <a:solidFill>
            <a:srgbClr val="0B1E3F"/>
          </a:solidFill>
          <a:ln/>
        </p:spPr>
      </p:sp>
      <p:sp>
        <p:nvSpPr>
          <p:cNvPr id="12" name="Shape 8"/>
          <p:cNvSpPr/>
          <p:nvPr/>
        </p:nvSpPr>
        <p:spPr>
          <a:xfrm>
            <a:off x="3122676" y="2944368"/>
            <a:ext cx="493776" cy="493776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3" name="Image 2" descr="/home/claude/icons/robo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260" y="304495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83180" y="35204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Swarm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583180" y="38862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intel, entities, metadata, MITRE, IR Builder</a:t>
            </a:r>
            <a:endParaRPr lang="en-US" sz="950" dirty="0"/>
          </a:p>
        </p:txBody>
      </p:sp>
      <p:pic>
        <p:nvPicPr>
          <p:cNvPr id="16" name="Image 3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954" y="3479292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43400" y="2743200"/>
            <a:ext cx="1755648" cy="1691640"/>
          </a:xfrm>
          <a:prstGeom prst="roundRect">
            <a:avLst>
              <a:gd name="adj" fmla="val 3784"/>
            </a:avLst>
          </a:prstGeom>
          <a:solidFill>
            <a:srgbClr val="0D9488"/>
          </a:solidFill>
          <a:ln/>
        </p:spPr>
      </p:sp>
      <p:sp>
        <p:nvSpPr>
          <p:cNvPr id="18" name="Shape 12"/>
          <p:cNvSpPr/>
          <p:nvPr/>
        </p:nvSpPr>
        <p:spPr>
          <a:xfrm>
            <a:off x="4974336" y="2944368"/>
            <a:ext cx="493776" cy="493776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19" name="Image 4" descr="/home/claude/icons/cubes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44952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34840" y="35204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IR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4434840" y="38862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JSON — single source of truth</a:t>
            </a:r>
            <a:endParaRPr lang="en-US" sz="950" dirty="0"/>
          </a:p>
        </p:txBody>
      </p:sp>
      <p:pic>
        <p:nvPicPr>
          <p:cNvPr id="22" name="Image 5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5614" y="3479292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195060" y="2743200"/>
            <a:ext cx="1755648" cy="1691640"/>
          </a:xfrm>
          <a:prstGeom prst="roundRect">
            <a:avLst>
              <a:gd name="adj" fmla="val 3784"/>
            </a:avLst>
          </a:prstGeom>
          <a:solidFill>
            <a:srgbClr val="0B1E3F"/>
          </a:solidFill>
          <a:ln/>
        </p:spPr>
      </p:sp>
      <p:sp>
        <p:nvSpPr>
          <p:cNvPr id="24" name="Shape 16"/>
          <p:cNvSpPr/>
          <p:nvPr/>
        </p:nvSpPr>
        <p:spPr>
          <a:xfrm>
            <a:off x="6825996" y="2944368"/>
            <a:ext cx="493776" cy="493776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25" name="Image 6" descr="/home/claude/icons/sitemap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6580" y="3044952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86500" y="35204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Mapper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6286500" y="38862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 / ASIM field normalization</a:t>
            </a:r>
            <a:endParaRPr lang="en-US" sz="950" dirty="0"/>
          </a:p>
        </p:txBody>
      </p:sp>
      <p:pic>
        <p:nvPicPr>
          <p:cNvPr id="28" name="Image 7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274" y="3479292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046720" y="2743200"/>
            <a:ext cx="1755648" cy="1691640"/>
          </a:xfrm>
          <a:prstGeom prst="roundRect">
            <a:avLst>
              <a:gd name="adj" fmla="val 3784"/>
            </a:avLst>
          </a:prstGeom>
          <a:solidFill>
            <a:srgbClr val="0B1E3F"/>
          </a:solidFill>
          <a:ln/>
        </p:spPr>
      </p:sp>
      <p:sp>
        <p:nvSpPr>
          <p:cNvPr id="30" name="Shape 20"/>
          <p:cNvSpPr/>
          <p:nvPr/>
        </p:nvSpPr>
        <p:spPr>
          <a:xfrm>
            <a:off x="8677656" y="2944368"/>
            <a:ext cx="493776" cy="493776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31" name="Image 8" descr="/home/claude/icons/branch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3044952"/>
            <a:ext cx="292608" cy="29260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38160" y="35204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250" dirty="0"/>
          </a:p>
        </p:txBody>
      </p:sp>
      <p:sp>
        <p:nvSpPr>
          <p:cNvPr id="33" name="Text 22"/>
          <p:cNvSpPr/>
          <p:nvPr/>
        </p:nvSpPr>
        <p:spPr>
          <a:xfrm>
            <a:off x="8138160" y="38862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· KQL · SPL (Jinja2 templates)</a:t>
            </a:r>
            <a:endParaRPr lang="en-US" sz="950" dirty="0"/>
          </a:p>
        </p:txBody>
      </p:sp>
      <p:pic>
        <p:nvPicPr>
          <p:cNvPr id="34" name="Image 9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8934" y="3479292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898380" y="2743200"/>
            <a:ext cx="1755648" cy="1691640"/>
          </a:xfrm>
          <a:prstGeom prst="roundRect">
            <a:avLst>
              <a:gd name="adj" fmla="val 3784"/>
            </a:avLst>
          </a:prstGeom>
          <a:solidFill>
            <a:srgbClr val="0B1E3F"/>
          </a:solidFill>
          <a:ln/>
        </p:spPr>
      </p:sp>
      <p:sp>
        <p:nvSpPr>
          <p:cNvPr id="36" name="Shape 24"/>
          <p:cNvSpPr/>
          <p:nvPr/>
        </p:nvSpPr>
        <p:spPr>
          <a:xfrm>
            <a:off x="10529316" y="2944368"/>
            <a:ext cx="493776" cy="493776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37" name="Image 10" descr="/home/claude/icons/check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9900" y="3044952"/>
            <a:ext cx="292608" cy="29260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89820" y="35204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Repair</a:t>
            </a:r>
            <a:endParaRPr lang="en-US" sz="1250" dirty="0"/>
          </a:p>
        </p:txBody>
      </p:sp>
      <p:sp>
        <p:nvSpPr>
          <p:cNvPr id="39" name="Text 26"/>
          <p:cNvSpPr/>
          <p:nvPr/>
        </p:nvSpPr>
        <p:spPr>
          <a:xfrm>
            <a:off x="9989820" y="38862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→ Semantic → Telemetry, closed loop</a:t>
            </a:r>
            <a:endParaRPr lang="en-US" sz="950" dirty="0"/>
          </a:p>
        </p:txBody>
      </p:sp>
      <p:sp>
        <p:nvSpPr>
          <p:cNvPr id="40" name="Shape 27"/>
          <p:cNvSpPr/>
          <p:nvPr/>
        </p:nvSpPr>
        <p:spPr>
          <a:xfrm>
            <a:off x="640080" y="4800600"/>
            <a:ext cx="10908792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pic>
        <p:nvPicPr>
          <p:cNvPr id="41" name="Image 11" descr="/home/claude/icons/sync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5120640"/>
            <a:ext cx="502920" cy="50292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1508760" y="4983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feedback loop</a:t>
            </a:r>
            <a:endParaRPr lang="en-US" sz="1400" dirty="0"/>
          </a:p>
        </p:txBody>
      </p:sp>
      <p:sp>
        <p:nvSpPr>
          <p:cNvPr id="43" name="Text 29"/>
          <p:cNvSpPr/>
          <p:nvPr/>
        </p:nvSpPr>
        <p:spPr>
          <a:xfrm>
            <a:off x="1508760" y="532180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validation fails, the Repair Agent edits the IR — not the generated rule — and the pipeline re-runs schema mapping → generation → validation, up to 3 iterations before human review.</a:t>
            </a:r>
            <a:endParaRPr lang="en-US" sz="1200" dirty="0"/>
          </a:p>
        </p:txBody>
      </p:sp>
      <p:sp>
        <p:nvSpPr>
          <p:cNvPr id="44" name="Text 3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45" name="Text 3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IR — The Core Innovation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vendor-neutral JSON structure that captures detection semantics — filters, thresholds, aggregations, temporal correlations, entity mappings, and MITRE ATT&amp;CK references — independent of any query language. Every generated rule, on every platform, is deterministically compiled from this single object.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logic: filters, conditions, operators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threshold logic (counts, distincts)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correlation (time windows, sequencing)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map: users, IPs, hosts, processes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tactic / technique / sub-technique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+ provenance trace to source 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60920" y="1508760"/>
            <a:ext cx="4160520" cy="4663440"/>
          </a:xfrm>
          <a:prstGeom prst="roundRect">
            <a:avLst>
              <a:gd name="adj" fmla="val 1538"/>
            </a:avLst>
          </a:prstGeom>
          <a:solidFill>
            <a:srgbClr val="16243F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SECURITY IR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35240" y="2103120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"event_type": "auth_failure",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"aggregation":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"function": "distinct_count",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"field": "username",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"group_by": "src_ip"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"threshold":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"op": "&gt;", "value": 20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"temporal": { "window": "5m" },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"mitre": {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"technique_id": "T1110.004",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"tactic": "Credential Access"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0.94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7-Agent Swarm — Orchestrated via LangGraph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rule generation fails when one model reasons about everything at once. Each agent here owns one narrow task with a typed input/output contract, communicating through a shared LangGraph state object.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1546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33172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/home/claude/icons/searc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2418588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88920" y="23408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86384" y="276148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 Agent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" y="305409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attack behaviours &amp; IOCs from raw text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995928" y="2194560"/>
            <a:ext cx="31546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42232" y="233172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/home/claude/icons/f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2418588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44768" y="23408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142232" y="276148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Agent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142232" y="305409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severity, description, tags, rule name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51776" y="2194560"/>
            <a:ext cx="31546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0" y="233172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2" descr="/home/claude/icons/targ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948" y="2418588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500616" y="23408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498080" y="276148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Agent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498080" y="305409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for IPs, users, hosts, processes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0080" y="3584448"/>
            <a:ext cx="31546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86384" y="372160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3" descr="/home/claude/icons/shiel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" y="3808476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88920" y="3730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86384" y="4151376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Mapping Agent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86384" y="4443984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behaviours to ATT&amp;CK techniques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995928" y="3584448"/>
            <a:ext cx="3154680" cy="1261872"/>
          </a:xfrm>
          <a:prstGeom prst="roundRect">
            <a:avLst>
              <a:gd name="adj" fmla="val 4348"/>
            </a:avLst>
          </a:prstGeom>
          <a:solidFill>
            <a:srgbClr val="0D9488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142232" y="3721608"/>
            <a:ext cx="347472" cy="347472"/>
          </a:xfrm>
          <a:prstGeom prst="ellipse">
            <a:avLst/>
          </a:prstGeom>
          <a:solidFill>
            <a:srgbClr val="0B1E3F"/>
          </a:solidFill>
          <a:ln/>
        </p:spPr>
      </p:sp>
      <p:pic>
        <p:nvPicPr>
          <p:cNvPr id="31" name="Image 4" descr="/home/claude/icons/cube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100" y="3808476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44768" y="3730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142232" y="4151376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Builder Agent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142232" y="4443984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all outputs into the Security IR (most critical)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7351776" y="3584448"/>
            <a:ext cx="31546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498080" y="372160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7" name="Image 5" descr="/home/claude/icon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4948" y="3808476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500616" y="3730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7498080" y="4151376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Agent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7498080" y="4443984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syntax → semantic → telemetry checks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640080" y="4974336"/>
            <a:ext cx="31546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86384" y="511149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3" name="Image 6" descr="/home/claude/icons/wrench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" y="5198364"/>
            <a:ext cx="219456" cy="219456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2788920" y="5120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786384" y="5541264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Agent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786384" y="583387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IR fixes from structured error reports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0" y="804672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→ finalized rules, IR &amp; provenance.   FAIL → errors route to the Repair Agent, which edits the IR and re-triggers generation.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56362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7" name="Image 0" descr="/home/claude/icons/fi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584" y="1527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Document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19842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/ CTI report / analyst note</a:t>
            </a:r>
            <a:endParaRPr lang="en-US" sz="1000" dirty="0"/>
          </a:p>
        </p:txBody>
      </p:sp>
      <p:pic>
        <p:nvPicPr>
          <p:cNvPr id="10" name="Image 1" descr="/home/claude/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764792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141732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</p:sp>
      <p:sp>
        <p:nvSpPr>
          <p:cNvPr id="12" name="Shape 8"/>
          <p:cNvSpPr/>
          <p:nvPr/>
        </p:nvSpPr>
        <p:spPr>
          <a:xfrm>
            <a:off x="3575304" y="156362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3" name="Image 2" descr="/home/claude/icons/cog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64592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32504" y="1527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566160" y="19842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text, chunk into segments</a:t>
            </a:r>
            <a:endParaRPr lang="en-US" sz="1000" dirty="0"/>
          </a:p>
        </p:txBody>
      </p:sp>
      <p:pic>
        <p:nvPicPr>
          <p:cNvPr id="16" name="Image 3" descr="/home/claude/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764792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17920" y="1417320"/>
            <a:ext cx="2331720" cy="868680"/>
          </a:xfrm>
          <a:prstGeom prst="roundRect">
            <a:avLst>
              <a:gd name="adj" fmla="val 6316"/>
            </a:avLst>
          </a:prstGeom>
          <a:solidFill>
            <a:srgbClr val="0D9488"/>
          </a:solidFill>
          <a:ln/>
        </p:spPr>
      </p:sp>
      <p:sp>
        <p:nvSpPr>
          <p:cNvPr id="18" name="Shape 12"/>
          <p:cNvSpPr/>
          <p:nvPr/>
        </p:nvSpPr>
        <p:spPr>
          <a:xfrm>
            <a:off x="6364224" y="156362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9" name="Image 4" descr="/home/claude/icons/sitema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64592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21424" y="1527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Agent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355080" y="19842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specialist agents</a:t>
            </a:r>
            <a:endParaRPr lang="en-US" sz="1000" dirty="0"/>
          </a:p>
        </p:txBody>
      </p:sp>
      <p:pic>
        <p:nvPicPr>
          <p:cNvPr id="22" name="Image 5" descr="/home/claude/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315200" y="239572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0080" y="2606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EXTRACTION LAYER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640080" y="292608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16243F"/>
          </a:solidFill>
          <a:ln/>
        </p:spPr>
      </p:sp>
      <p:sp>
        <p:nvSpPr>
          <p:cNvPr id="25" name="Shape 17"/>
          <p:cNvSpPr/>
          <p:nvPr/>
        </p:nvSpPr>
        <p:spPr>
          <a:xfrm>
            <a:off x="786384" y="307238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26" name="Image 6" descr="/home/claude/icons/search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154680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243584" y="30358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777240" y="3493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behaviours, IOCs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3355848" y="292608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16243F"/>
          </a:solidFill>
          <a:ln/>
        </p:spPr>
      </p:sp>
      <p:sp>
        <p:nvSpPr>
          <p:cNvPr id="30" name="Shape 21"/>
          <p:cNvSpPr/>
          <p:nvPr/>
        </p:nvSpPr>
        <p:spPr>
          <a:xfrm>
            <a:off x="3502152" y="307238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31" name="Image 7" descr="/home/claude/icons/fil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3154680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3959352" y="30358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3493008" y="3493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tags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6071616" y="292608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16243F"/>
          </a:solidFill>
          <a:ln/>
        </p:spPr>
      </p:sp>
      <p:sp>
        <p:nvSpPr>
          <p:cNvPr id="35" name="Shape 25"/>
          <p:cNvSpPr/>
          <p:nvPr/>
        </p:nvSpPr>
        <p:spPr>
          <a:xfrm>
            <a:off x="6217920" y="307238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36" name="Image 8" descr="/home/claude/icons/target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3154680"/>
            <a:ext cx="201168" cy="20116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675120" y="30358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6208776" y="3493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IPs, users, hosts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8787384" y="292608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16243F"/>
          </a:solidFill>
          <a:ln/>
        </p:spPr>
      </p:sp>
      <p:sp>
        <p:nvSpPr>
          <p:cNvPr id="40" name="Shape 29"/>
          <p:cNvSpPr/>
          <p:nvPr/>
        </p:nvSpPr>
        <p:spPr>
          <a:xfrm>
            <a:off x="8933688" y="307238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41" name="Image 9" descr="/home/claude/icons/shield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5984" y="3154680"/>
            <a:ext cx="201168" cy="20116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9390888" y="30358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300" dirty="0"/>
          </a:p>
        </p:txBody>
      </p:sp>
      <p:sp>
        <p:nvSpPr>
          <p:cNvPr id="43" name="Text 31"/>
          <p:cNvSpPr/>
          <p:nvPr/>
        </p:nvSpPr>
        <p:spPr>
          <a:xfrm>
            <a:off x="8924544" y="34930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techniques</a:t>
            </a:r>
            <a:endParaRPr lang="en-US" sz="1000" dirty="0"/>
          </a:p>
        </p:txBody>
      </p:sp>
      <p:pic>
        <p:nvPicPr>
          <p:cNvPr id="44" name="Image 10" descr="/home/claude/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52160" y="3986784"/>
            <a:ext cx="237744" cy="237744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640080" y="4279392"/>
            <a:ext cx="8595360" cy="804672"/>
          </a:xfrm>
          <a:prstGeom prst="roundRect">
            <a:avLst>
              <a:gd name="adj" fmla="val 6818"/>
            </a:avLst>
          </a:prstGeom>
          <a:solidFill>
            <a:srgbClr val="0D9488"/>
          </a:solidFill>
          <a:ln/>
        </p:spPr>
      </p:sp>
      <p:sp>
        <p:nvSpPr>
          <p:cNvPr id="46" name="Shape 33"/>
          <p:cNvSpPr/>
          <p:nvPr/>
        </p:nvSpPr>
        <p:spPr>
          <a:xfrm>
            <a:off x="786384" y="4425696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47" name="Image 11" descr="/home/claude/icons/cubes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4507992"/>
            <a:ext cx="201168" cy="201168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1243584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Builder Agent  —  assembles the Security IR (canonical, vendor-neutral JSON)</a:t>
            </a:r>
            <a:endParaRPr lang="en-US" sz="1300" dirty="0"/>
          </a:p>
        </p:txBody>
      </p:sp>
      <p:pic>
        <p:nvPicPr>
          <p:cNvPr id="49" name="Image 12" descr="/home/claude/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852160" y="5193792"/>
            <a:ext cx="237744" cy="237744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640080" y="548640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</p:spPr>
      </p:sp>
      <p:sp>
        <p:nvSpPr>
          <p:cNvPr id="51" name="Shape 36"/>
          <p:cNvSpPr/>
          <p:nvPr/>
        </p:nvSpPr>
        <p:spPr>
          <a:xfrm>
            <a:off x="786384" y="563270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52" name="Image 13" descr="/home/claude/icons/branch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680" y="5715000"/>
            <a:ext cx="201168" cy="20116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1243584" y="55961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Mapper</a:t>
            </a:r>
            <a:endParaRPr lang="en-US" sz="1300" dirty="0"/>
          </a:p>
        </p:txBody>
      </p:sp>
      <p:sp>
        <p:nvSpPr>
          <p:cNvPr id="54" name="Text 38"/>
          <p:cNvSpPr/>
          <p:nvPr/>
        </p:nvSpPr>
        <p:spPr>
          <a:xfrm>
            <a:off x="777240" y="6053328"/>
            <a:ext cx="2331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 / ASIM resolution</a:t>
            </a:r>
            <a:endParaRPr lang="en-US" sz="1000" dirty="0"/>
          </a:p>
        </p:txBody>
      </p:sp>
      <p:pic>
        <p:nvPicPr>
          <p:cNvPr id="55" name="Image 14" descr="/home/claude/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5833872"/>
            <a:ext cx="237744" cy="237744"/>
          </a:xfrm>
          <a:prstGeom prst="rect">
            <a:avLst/>
          </a:prstGeom>
        </p:spPr>
      </p:pic>
      <p:sp>
        <p:nvSpPr>
          <p:cNvPr id="56" name="Shape 39"/>
          <p:cNvSpPr/>
          <p:nvPr/>
        </p:nvSpPr>
        <p:spPr>
          <a:xfrm>
            <a:off x="3703320" y="54864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</p:spPr>
      </p:sp>
      <p:sp>
        <p:nvSpPr>
          <p:cNvPr id="57" name="Text 40"/>
          <p:cNvSpPr/>
          <p:nvPr/>
        </p:nvSpPr>
        <p:spPr>
          <a:xfrm>
            <a:off x="3840480" y="5596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</a:t>
            </a:r>
            <a:endParaRPr lang="en-US" sz="1300" dirty="0"/>
          </a:p>
        </p:txBody>
      </p:sp>
      <p:sp>
        <p:nvSpPr>
          <p:cNvPr id="58" name="Text 41"/>
          <p:cNvSpPr/>
          <p:nvPr/>
        </p:nvSpPr>
        <p:spPr>
          <a:xfrm>
            <a:off x="3840480" y="59436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59" name="Shape 42"/>
          <p:cNvSpPr/>
          <p:nvPr/>
        </p:nvSpPr>
        <p:spPr>
          <a:xfrm>
            <a:off x="4846320" y="54864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</p:spPr>
      </p:sp>
      <p:sp>
        <p:nvSpPr>
          <p:cNvPr id="60" name="Text 43"/>
          <p:cNvSpPr/>
          <p:nvPr/>
        </p:nvSpPr>
        <p:spPr>
          <a:xfrm>
            <a:off x="4983480" y="5596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</a:t>
            </a:r>
            <a:endParaRPr lang="en-US" sz="1300" dirty="0"/>
          </a:p>
        </p:txBody>
      </p:sp>
      <p:sp>
        <p:nvSpPr>
          <p:cNvPr id="61" name="Text 44"/>
          <p:cNvSpPr/>
          <p:nvPr/>
        </p:nvSpPr>
        <p:spPr>
          <a:xfrm>
            <a:off x="4983480" y="59436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62" name="Shape 45"/>
          <p:cNvSpPr/>
          <p:nvPr/>
        </p:nvSpPr>
        <p:spPr>
          <a:xfrm>
            <a:off x="5989320" y="54864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</p:spPr>
      </p:sp>
      <p:sp>
        <p:nvSpPr>
          <p:cNvPr id="63" name="Text 46"/>
          <p:cNvSpPr/>
          <p:nvPr/>
        </p:nvSpPr>
        <p:spPr>
          <a:xfrm>
            <a:off x="6126480" y="55961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</a:t>
            </a:r>
            <a:endParaRPr lang="en-US" sz="1300" dirty="0"/>
          </a:p>
        </p:txBody>
      </p:sp>
      <p:sp>
        <p:nvSpPr>
          <p:cNvPr id="64" name="Text 47"/>
          <p:cNvSpPr/>
          <p:nvPr/>
        </p:nvSpPr>
        <p:spPr>
          <a:xfrm>
            <a:off x="6126480" y="59436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00" dirty="0"/>
          </a:p>
        </p:txBody>
      </p:sp>
      <p:pic>
        <p:nvPicPr>
          <p:cNvPr id="65" name="Image 15" descr="/home/claude/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4544568"/>
            <a:ext cx="237744" cy="237744"/>
          </a:xfrm>
          <a:prstGeom prst="rect">
            <a:avLst/>
          </a:prstGeom>
        </p:spPr>
      </p:pic>
      <p:sp>
        <p:nvSpPr>
          <p:cNvPr id="66" name="Shape 48"/>
          <p:cNvSpPr/>
          <p:nvPr/>
        </p:nvSpPr>
        <p:spPr>
          <a:xfrm>
            <a:off x="9921240" y="4279392"/>
            <a:ext cx="1874520" cy="804672"/>
          </a:xfrm>
          <a:prstGeom prst="roundRect">
            <a:avLst>
              <a:gd name="adj" fmla="val 6818"/>
            </a:avLst>
          </a:prstGeom>
          <a:solidFill>
            <a:srgbClr val="16243F"/>
          </a:solidFill>
          <a:ln/>
        </p:spPr>
      </p:sp>
      <p:sp>
        <p:nvSpPr>
          <p:cNvPr id="67" name="Shape 49"/>
          <p:cNvSpPr/>
          <p:nvPr/>
        </p:nvSpPr>
        <p:spPr>
          <a:xfrm>
            <a:off x="10067544" y="4425696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68" name="Image 16" descr="/home/claude/icons/check_nav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9840" y="4507992"/>
            <a:ext cx="201168" cy="201168"/>
          </a:xfrm>
          <a:prstGeom prst="rect">
            <a:avLst/>
          </a:prstGeom>
        </p:spPr>
      </p:pic>
      <p:sp>
        <p:nvSpPr>
          <p:cNvPr id="69" name="Text 50"/>
          <p:cNvSpPr/>
          <p:nvPr/>
        </p:nvSpPr>
        <p:spPr>
          <a:xfrm>
            <a:off x="10524744" y="43891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Engine</a:t>
            </a:r>
            <a:endParaRPr lang="en-US" sz="1300" dirty="0"/>
          </a:p>
        </p:txBody>
      </p:sp>
      <p:sp>
        <p:nvSpPr>
          <p:cNvPr id="70" name="Text 51"/>
          <p:cNvSpPr/>
          <p:nvPr/>
        </p:nvSpPr>
        <p:spPr>
          <a:xfrm>
            <a:off x="10058400" y="48463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→ Semantic → Telemetry</a:t>
            </a:r>
            <a:endParaRPr lang="en-US" sz="1000" dirty="0"/>
          </a:p>
        </p:txBody>
      </p:sp>
      <p:pic>
        <p:nvPicPr>
          <p:cNvPr id="71" name="Image 17" descr="/home/claude/icons/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835640" y="5138928"/>
            <a:ext cx="237744" cy="237744"/>
          </a:xfrm>
          <a:prstGeom prst="rect">
            <a:avLst/>
          </a:prstGeom>
        </p:spPr>
      </p:pic>
      <p:sp>
        <p:nvSpPr>
          <p:cNvPr id="72" name="Shape 52"/>
          <p:cNvSpPr/>
          <p:nvPr/>
        </p:nvSpPr>
        <p:spPr>
          <a:xfrm>
            <a:off x="9921240" y="548640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/>
        </p:spPr>
      </p:sp>
      <p:sp>
        <p:nvSpPr>
          <p:cNvPr id="73" name="Shape 53"/>
          <p:cNvSpPr/>
          <p:nvPr/>
        </p:nvSpPr>
        <p:spPr>
          <a:xfrm>
            <a:off x="10067544" y="5632704"/>
            <a:ext cx="365760" cy="36576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74" name="Image 18" descr="/home/claude/icons/wrench_nav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49840" y="5715000"/>
            <a:ext cx="201168" cy="201168"/>
          </a:xfrm>
          <a:prstGeom prst="rect">
            <a:avLst/>
          </a:prstGeom>
        </p:spPr>
      </p:pic>
      <p:sp>
        <p:nvSpPr>
          <p:cNvPr id="75" name="Text 54"/>
          <p:cNvSpPr/>
          <p:nvPr/>
        </p:nvSpPr>
        <p:spPr>
          <a:xfrm>
            <a:off x="10524744" y="55961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Agent</a:t>
            </a:r>
            <a:endParaRPr lang="en-US" sz="1300" dirty="0"/>
          </a:p>
        </p:txBody>
      </p:sp>
      <p:sp>
        <p:nvSpPr>
          <p:cNvPr id="76" name="Text 55"/>
          <p:cNvSpPr/>
          <p:nvPr/>
        </p:nvSpPr>
        <p:spPr>
          <a:xfrm>
            <a:off x="10058400" y="6053328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retries — edits IR, loops back</a:t>
            </a:r>
            <a:endParaRPr lang="en-US" sz="1000" dirty="0"/>
          </a:p>
        </p:txBody>
      </p:sp>
      <p:sp>
        <p:nvSpPr>
          <p:cNvPr id="77" name="Text 5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78" name="Text 5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WHY IT'S BETTER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Framework Defeats Each Failure Mode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from the LLM-only approach maps to a specific architectural countermeasure: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10908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30552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7" name="Image 0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19456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9933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hallucination</a:t>
            </a:r>
            <a:endParaRPr lang="en-US" sz="1300" dirty="0"/>
          </a:p>
        </p:txBody>
      </p:sp>
      <p:pic>
        <p:nvPicPr>
          <p:cNvPr id="9" name="Image 1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20370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199339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lives in IR JSON; syntax is generated by deterministic Jinja2 templates per platform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40080" y="2711196"/>
            <a:ext cx="10908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41248" y="2848356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3" name="Image 2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91236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71119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hallucination</a:t>
            </a:r>
            <a:endParaRPr lang="en-US" sz="1300" dirty="0"/>
          </a:p>
        </p:txBody>
      </p:sp>
      <p:pic>
        <p:nvPicPr>
          <p:cNvPr id="15" name="Image 3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92150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17720" y="271119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Mapper validates every field against OCSF/ASIM before generation — invented names are impossible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" y="3429000"/>
            <a:ext cx="10908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1248" y="3566160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9" name="Image 4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63016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errors</a:t>
            </a:r>
            <a:endParaRPr lang="en-US" sz="1300" dirty="0"/>
          </a:p>
        </p:txBody>
      </p:sp>
      <p:pic>
        <p:nvPicPr>
          <p:cNvPr id="21" name="Image 5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39312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17720" y="3429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agents reason about attack behaviour separately from code generation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40080" y="4146804"/>
            <a:ext cx="10908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841248" y="4283964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5" name="Image 6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347972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371600" y="414680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temporal logic</a:t>
            </a:r>
            <a:endParaRPr lang="en-US" sz="1300" dirty="0"/>
          </a:p>
        </p:txBody>
      </p:sp>
      <p:pic>
        <p:nvPicPr>
          <p:cNvPr id="27" name="Image 7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357116"/>
            <a:ext cx="219456" cy="219456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617720" y="414680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schema has a mandatory temporal_logic section; validation rejects rules without it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640080" y="4864608"/>
            <a:ext cx="10908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41248" y="5001768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31" name="Image 8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065776"/>
            <a:ext cx="237744" cy="23774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371600" y="4864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Over-broad detection</a:t>
            </a:r>
            <a:endParaRPr lang="en-US" sz="1300" dirty="0"/>
          </a:p>
        </p:txBody>
      </p:sp>
      <p:pic>
        <p:nvPicPr>
          <p:cNvPr id="33" name="Image 9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5074920"/>
            <a:ext cx="219456" cy="21945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4617720" y="486460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validation measures FP rate; Repair Agent adds exclusion filters automatically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640080" y="5582412"/>
            <a:ext cx="1090879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841248" y="5719572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37" name="Image 10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783580"/>
            <a:ext cx="237744" cy="237744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1371600" y="55824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confusion</a:t>
            </a:r>
            <a:endParaRPr lang="en-US" sz="1300" dirty="0"/>
          </a:p>
        </p:txBody>
      </p:sp>
      <p:pic>
        <p:nvPicPr>
          <p:cNvPr id="39" name="Image 11" descr="/home/claude/icons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5792724"/>
            <a:ext cx="219456" cy="219456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4617720" y="558241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dedicated generator per platform — zero cross-contamination of syntax</a:t>
            </a:r>
            <a:endParaRPr lang="en-US" sz="1200" dirty="0"/>
          </a:p>
        </p:txBody>
      </p:sp>
      <p:sp>
        <p:nvSpPr>
          <p:cNvPr id="41" name="Text 2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42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WHY IT'S BETTER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Validation — and the Business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VALIDATION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139696"/>
            <a:ext cx="420624" cy="42062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39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3500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the rule — valid YAML/KQL/SPL structure?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3145536"/>
            <a:ext cx="420624" cy="42062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145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44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3558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 &amp; values checked against OCSF/ASIM schema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13294B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4151376"/>
            <a:ext cx="420624" cy="42062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050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3616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rule on benchmark logs (SigmaHQ, HDFS, synthetic)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983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failure: structured error → Repair Agent edits the IR (not the rule) → re-runs generation — up to 3 iterations before human review.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1508760"/>
            <a:ext cx="5120640" cy="4892040"/>
          </a:xfrm>
          <a:prstGeom prst="roundRect">
            <a:avLst>
              <a:gd name="adj" fmla="val 1308"/>
            </a:avLst>
          </a:prstGeom>
          <a:solidFill>
            <a:srgbClr val="16243F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Process  vs.  This Framework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2084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3252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2971800"/>
            <a:ext cx="4572000" cy="0"/>
          </a:xfrm>
          <a:prstGeom prst="line">
            <a:avLst/>
          </a:prstGeom>
          <a:noFill/>
          <a:ln w="9525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0266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rule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732520" y="30266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 hours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0" y="30266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minutes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20840" y="3506724"/>
            <a:ext cx="4572000" cy="0"/>
          </a:xfrm>
          <a:prstGeom prst="line">
            <a:avLst/>
          </a:prstGeom>
          <a:noFill/>
          <a:ln w="9525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5615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/ analyst / week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732520" y="35615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0" y="35615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50–100+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720840" y="4041648"/>
            <a:ext cx="4572000" cy="0"/>
          </a:xfrm>
          <a:prstGeom prst="line">
            <a:avLst/>
          </a:prstGeom>
          <a:noFill/>
          <a:ln w="9525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4096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deploy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732520" y="40965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per platform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0" y="40965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from one IR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720840" y="4576572"/>
            <a:ext cx="4572000" cy="0"/>
          </a:xfrm>
          <a:prstGeom prst="line">
            <a:avLst/>
          </a:prstGeom>
          <a:noFill/>
          <a:ln w="9525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46314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732520" y="46314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058400" y="46314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15%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720840" y="5111496"/>
            <a:ext cx="4572000" cy="0"/>
          </a:xfrm>
          <a:prstGeom prst="line">
            <a:avLst/>
          </a:prstGeom>
          <a:noFill/>
          <a:ln w="9525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ATT&amp;CK coverage growth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732520" y="5166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techniques/mo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058400" y="5166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techniques/mo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720840" y="5646420"/>
            <a:ext cx="4572000" cy="0"/>
          </a:xfrm>
          <a:prstGeom prst="line">
            <a:avLst/>
          </a:prstGeom>
          <a:noFill/>
          <a:ln w="9525">
            <a:solidFill>
              <a:srgbClr val="E2E8F0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0840" y="57012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lag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732520" y="57012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3–11 days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058400" y="57012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day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NOVELTY &amp;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 — Research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/home/claude/icons/cub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20071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4963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Schema-Aware Security IR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30632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typed, vendor-neutral intermediate representation for detection logic — first application of compiler-style IR theory to SIEM rule generation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/home/claude/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588" y="200710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963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7-Agent LangGraph Pipeline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30632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with typed contracts replace single-prompt generation, distributing cognitive load like an expert SOC team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89280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/home/claude/icons/sitema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200710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4963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OCSF + ASIM Dual Normalization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39328" y="30632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schema mapping enables true cross-platform field compatibility — not done by any existing tool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2702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/home/claude/icons/recyc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438454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8737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Telemetry Repair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41248" y="54406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real benchmark logs (SigmaHQ, HDFS) with autonomous, IR-targeted repair — bounded retries, human fallback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4069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42702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/home/claude/icons/bran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4588" y="438454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0288" y="48737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IR → Three Platforms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0288" y="54406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Sigma, KQL, and SPL generated deterministically from a single canonical object — demonstrates IR generality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427024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/home/claude/icons/balan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628" y="438454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48737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Evaluation Metrics (SRE / EMR)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39328" y="544068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beyond flawed CodeBLEU to Semantic Rule Equivalence and Execution Match Rate — logic-aware, not string-similarity-based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EVALUATION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Baselines, Hypotheses &amp; New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0B1E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32257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GPT-4o single-prompt generation — no IR, no agents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0B1E3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992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3101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Single-prompt with chain-of-thought reasoning — no IR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895344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867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4297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multi-agent + IR framework (this project)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92861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systems receive identical SigmaHQ threat reports and are evaluated on identical metrics, with paired t-tests for statistical significance.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1554480"/>
            <a:ext cx="5120640" cy="4846320"/>
          </a:xfrm>
          <a:prstGeom prst="roundRect">
            <a:avLst>
              <a:gd name="adj" fmla="val 1321"/>
            </a:avLst>
          </a:prstGeom>
          <a:solidFill>
            <a:srgbClr val="0B1E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CODEBLEU — LOGIC-AWARE METRICS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214884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Rule Equivalence (SRE)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49440" y="263347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generated &amp; ground-truth queries into ASTs, normalizes them (operator order, commutative filters), then checks for logical equivalence — score is 1.0 regardless of syntactic style.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365760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Match Rate (EMR)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49440" y="414223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both the generated and ground-truth rules against benchmark telemetry and compares alert sets via Jaccard similarity. EMR = 1.0 means functional parity with a human expert.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5166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CodeBLEU is retained only as a legacy secondary baseline — it penalizes functionally-identical rules for harmless reordering of filters.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EVALUATION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 &amp; Ablation Study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IMPROVEMENT OVER BASELINE A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874520"/>
          <a:ext cx="55778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2578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Field-hallucination rate is expected to fall from ~45% to ≤5% — a &gt;40 point reduction — driven entirely by OCSF/ASIM schema grounding.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46520" y="1508760"/>
            <a:ext cx="5120640" cy="4892040"/>
          </a:xfrm>
          <a:prstGeom prst="roundRect">
            <a:avLst>
              <a:gd name="adj" fmla="val 1308"/>
            </a:avLst>
          </a:prstGeom>
          <a:solidFill>
            <a:srgbClr val="16243F"/>
          </a:solidFill>
          <a:ln/>
        </p:spPr>
      </p:sp>
      <p:sp>
        <p:nvSpPr>
          <p:cNvPr id="8" name="Text 5"/>
          <p:cNvSpPr/>
          <p:nvPr/>
        </p:nvSpPr>
        <p:spPr>
          <a:xfrm>
            <a:off x="67208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ISOLATING EACH COMPONENT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20840" y="210312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</p:spPr>
      </p:sp>
      <p:sp>
        <p:nvSpPr>
          <p:cNvPr id="10" name="Shape 7"/>
          <p:cNvSpPr/>
          <p:nvPr/>
        </p:nvSpPr>
        <p:spPr>
          <a:xfrm>
            <a:off x="6903720" y="2267712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1" name="Text 8"/>
          <p:cNvSpPr/>
          <p:nvPr/>
        </p:nvSpPr>
        <p:spPr>
          <a:xfrm>
            <a:off x="69037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21945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IR layer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98080" y="249631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IR's hallucination reduction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20840" y="2990088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</p:spPr>
      </p:sp>
      <p:sp>
        <p:nvSpPr>
          <p:cNvPr id="15" name="Shape 12"/>
          <p:cNvSpPr/>
          <p:nvPr/>
        </p:nvSpPr>
        <p:spPr>
          <a:xfrm>
            <a:off x="6903720" y="315468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6" name="Text 13"/>
          <p:cNvSpPr/>
          <p:nvPr/>
        </p:nvSpPr>
        <p:spPr>
          <a:xfrm>
            <a:off x="69037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98080" y="308152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(no multi-agent)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98080" y="33832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multi-agent decomposition gain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720840" y="3877056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</p:spPr>
      </p:sp>
      <p:sp>
        <p:nvSpPr>
          <p:cNvPr id="20" name="Shape 17"/>
          <p:cNvSpPr/>
          <p:nvPr/>
        </p:nvSpPr>
        <p:spPr>
          <a:xfrm>
            <a:off x="6903720" y="4041648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1" name="Text 18"/>
          <p:cNvSpPr/>
          <p:nvPr/>
        </p:nvSpPr>
        <p:spPr>
          <a:xfrm>
            <a:off x="690372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498080" y="396849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OCSF/ASIM mapping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498080" y="42702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field-mapping accuracy impact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720840" y="4764024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</p:spPr>
      </p:sp>
      <p:sp>
        <p:nvSpPr>
          <p:cNvPr id="25" name="Shape 22"/>
          <p:cNvSpPr/>
          <p:nvPr/>
        </p:nvSpPr>
        <p:spPr>
          <a:xfrm>
            <a:off x="6903720" y="4928616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6" name="Text 23"/>
          <p:cNvSpPr/>
          <p:nvPr/>
        </p:nvSpPr>
        <p:spPr>
          <a:xfrm>
            <a:off x="690372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498080" y="48554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validation + repair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498080" y="515721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closed-loop refinement gain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720840" y="5650992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13294B"/>
          </a:solidFill>
          <a:ln/>
        </p:spPr>
      </p:sp>
      <p:sp>
        <p:nvSpPr>
          <p:cNvPr id="30" name="Shape 27"/>
          <p:cNvSpPr/>
          <p:nvPr/>
        </p:nvSpPr>
        <p:spPr>
          <a:xfrm>
            <a:off x="6903720" y="5815584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31" name="Text 28"/>
          <p:cNvSpPr/>
          <p:nvPr/>
        </p:nvSpPr>
        <p:spPr>
          <a:xfrm>
            <a:off x="6903720" y="5815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498080" y="57424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MITRE mapping agent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498080" y="604418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specialized ATT&amp;CK reasoning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ROADMAP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 &amp; Project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919472"/>
          </a:xfrm>
          <a:prstGeom prst="roundRect">
            <a:avLst>
              <a:gd name="adj" fmla="val 1301"/>
            </a:avLst>
          </a:prstGeom>
          <a:solidFill>
            <a:srgbClr val="0B1E3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55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PROTOTYPE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29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 constrained pipeline first, then expand</a:t>
            </a:r>
            <a:endParaRPr lang="en-US" sz="1700" dirty="0"/>
          </a:p>
        </p:txBody>
      </p:sp>
      <p:pic>
        <p:nvPicPr>
          <p:cNvPr id="7" name="Image 0" descr="/home/claude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7860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9631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markdown threat reports (no PDF/DOCX yet)</a:t>
            </a:r>
            <a:endParaRPr lang="en-US" sz="1150" dirty="0"/>
          </a:p>
        </p:txBody>
      </p:sp>
      <p:pic>
        <p:nvPicPr>
          <p:cNvPr id="9" name="Image 1" descr="/home/claude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135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03123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 rules only — simplifies generator logic</a:t>
            </a:r>
            <a:endParaRPr lang="en-US" sz="1150" dirty="0"/>
          </a:p>
        </p:txBody>
      </p:sp>
      <p:pic>
        <p:nvPicPr>
          <p:cNvPr id="11" name="Image 2" descr="/home/claude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484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56616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mapping: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Sigma field translation; full OCSF/ASIM later</a:t>
            </a:r>
            <a:endParaRPr lang="en-US" sz="1150" dirty="0"/>
          </a:p>
        </p:txBody>
      </p:sp>
      <p:pic>
        <p:nvPicPr>
          <p:cNvPr id="13" name="Image 3" descr="/home/claude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8338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410108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validation (pySigma) only — telemetry deferred</a:t>
            </a:r>
            <a:endParaRPr lang="en-US" sz="1150" dirty="0"/>
          </a:p>
        </p:txBody>
      </p:sp>
      <p:pic>
        <p:nvPicPr>
          <p:cNvPr id="15" name="Image 4" descr="/home/claude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18304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63600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Builder + Sigma Generator core; refactor to full swarm later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914400" y="530809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criteria: accepts a 500-word threat description, outputs syntactically valid Sigma YAML with at least one correct EventID + IOC, end-to-end via a single FastAPI endpoint.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263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 (18 WEEKS)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263640" y="1984248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3"/>
          <p:cNvSpPr/>
          <p:nvPr/>
        </p:nvSpPr>
        <p:spPr>
          <a:xfrm>
            <a:off x="6263640" y="1984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6423660" y="2304288"/>
            <a:ext cx="0" cy="53035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22" name="Shape 15"/>
          <p:cNvSpPr/>
          <p:nvPr/>
        </p:nvSpPr>
        <p:spPr>
          <a:xfrm>
            <a:off x="6766560" y="1920240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6949440" y="19659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Weeks 1–4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949440" y="2176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949440" y="2441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schema design, LangGraph setup, basic agent prompts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263640" y="28803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0"/>
          <p:cNvSpPr/>
          <p:nvPr/>
        </p:nvSpPr>
        <p:spPr>
          <a:xfrm>
            <a:off x="626364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423660" y="3200400"/>
            <a:ext cx="0" cy="53035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29" name="Shape 22"/>
          <p:cNvSpPr/>
          <p:nvPr/>
        </p:nvSpPr>
        <p:spPr>
          <a:xfrm>
            <a:off x="6766560" y="2816352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949440" y="28620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Weeks 5–8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949440" y="3072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6949440" y="3337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agents, generators, pySigma validation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263640" y="3776472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27"/>
          <p:cNvSpPr/>
          <p:nvPr/>
        </p:nvSpPr>
        <p:spPr>
          <a:xfrm>
            <a:off x="6263640" y="3776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423660" y="4096512"/>
            <a:ext cx="0" cy="53035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36" name="Shape 29"/>
          <p:cNvSpPr/>
          <p:nvPr/>
        </p:nvSpPr>
        <p:spPr>
          <a:xfrm>
            <a:off x="6766560" y="3712464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6949440" y="375818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Weeks 9–11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6949440" y="3968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6949440" y="423367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3-stage validation, repair loop, telemetry integration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263640" y="4672584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4"/>
          <p:cNvSpPr/>
          <p:nvPr/>
        </p:nvSpPr>
        <p:spPr>
          <a:xfrm>
            <a:off x="6263640" y="4672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6423660" y="4992624"/>
            <a:ext cx="0" cy="53035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43" name="Shape 36"/>
          <p:cNvSpPr/>
          <p:nvPr/>
        </p:nvSpPr>
        <p:spPr>
          <a:xfrm>
            <a:off x="6766560" y="4608576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44" name="Text 37"/>
          <p:cNvSpPr/>
          <p:nvPr/>
        </p:nvSpPr>
        <p:spPr>
          <a:xfrm>
            <a:off x="6949440" y="4654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Weeks 12–14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6949440" y="48646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46" name="Text 39"/>
          <p:cNvSpPr/>
          <p:nvPr/>
        </p:nvSpPr>
        <p:spPr>
          <a:xfrm>
            <a:off x="6949440" y="5129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SigmaHQ benchmarking, ablations, metric collection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6263640" y="5568696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8" name="Text 41"/>
          <p:cNvSpPr/>
          <p:nvPr/>
        </p:nvSpPr>
        <p:spPr>
          <a:xfrm>
            <a:off x="6263640" y="5568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9" name="Shape 42"/>
          <p:cNvSpPr/>
          <p:nvPr/>
        </p:nvSpPr>
        <p:spPr>
          <a:xfrm>
            <a:off x="6766560" y="5504688"/>
            <a:ext cx="50749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A4A">
                <a:alpha val="6000"/>
              </a:srgbClr>
            </a:outerShdw>
          </a:effectLst>
        </p:spPr>
      </p:sp>
      <p:sp>
        <p:nvSpPr>
          <p:cNvPr id="50" name="Text 43"/>
          <p:cNvSpPr/>
          <p:nvPr/>
        </p:nvSpPr>
        <p:spPr>
          <a:xfrm>
            <a:off x="6949440" y="55504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Weeks 15–18</a:t>
            </a:r>
            <a:endParaRPr lang="en-US" sz="1000" dirty="0"/>
          </a:p>
        </p:txBody>
      </p:sp>
      <p:sp>
        <p:nvSpPr>
          <p:cNvPr id="51" name="Text 44"/>
          <p:cNvSpPr/>
          <p:nvPr/>
        </p:nvSpPr>
        <p:spPr>
          <a:xfrm>
            <a:off x="6949440" y="5760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</a:t>
            </a:r>
            <a:endParaRPr lang="en-US" sz="1350" dirty="0"/>
          </a:p>
        </p:txBody>
      </p:sp>
      <p:sp>
        <p:nvSpPr>
          <p:cNvPr id="52" name="Text 45"/>
          <p:cNvSpPr/>
          <p:nvPr/>
        </p:nvSpPr>
        <p:spPr>
          <a:xfrm>
            <a:off x="6949440" y="60258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paper, technical report, presentation</a:t>
            </a:r>
            <a:endParaRPr lang="en-US" sz="1050" dirty="0"/>
          </a:p>
        </p:txBody>
      </p:sp>
      <p:sp>
        <p:nvSpPr>
          <p:cNvPr id="53" name="Text 46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ROADMAP &amp;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Mitigations &amp; Future Extensions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5577840" cy="804672"/>
          </a:xfrm>
          <a:prstGeom prst="roundRect">
            <a:avLst>
              <a:gd name="adj" fmla="val 6818"/>
            </a:avLst>
          </a:prstGeom>
          <a:solidFill>
            <a:srgbClr val="13294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93392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7" name="Image 0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5740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110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field hallucination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25880" y="21945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IR schema (Pydantic) + injected OCSF dictionaries in prompts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729484"/>
            <a:ext cx="5577840" cy="804672"/>
          </a:xfrm>
          <a:prstGeom prst="roundRect">
            <a:avLst>
              <a:gd name="adj" fmla="val 6818"/>
            </a:avLst>
          </a:prstGeom>
          <a:solidFill>
            <a:srgbClr val="13294B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2875788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2" name="Image 1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9397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7934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validation overhead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325880" y="307695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representative synthetic datasets; cache validation results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611880"/>
            <a:ext cx="5577840" cy="804672"/>
          </a:xfrm>
          <a:prstGeom prst="roundRect">
            <a:avLst>
              <a:gd name="adj" fmla="val 6818"/>
            </a:avLst>
          </a:prstGeom>
          <a:solidFill>
            <a:srgbClr val="13294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3758184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17" name="Image 2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2219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6758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limits / latency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325880" y="395935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backoff; smaller models (e.g. GPT-4o-mini) for extraction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494276"/>
            <a:ext cx="5577840" cy="804672"/>
          </a:xfrm>
          <a:prstGeom prst="roundRect">
            <a:avLst>
              <a:gd name="adj" fmla="val 6818"/>
            </a:avLst>
          </a:prstGeom>
          <a:solidFill>
            <a:srgbClr val="13294B"/>
          </a:solidFill>
          <a:ln/>
        </p:spPr>
      </p:sp>
      <p:sp>
        <p:nvSpPr>
          <p:cNvPr id="21" name="Shape 16"/>
          <p:cNvSpPr/>
          <p:nvPr/>
        </p:nvSpPr>
        <p:spPr>
          <a:xfrm>
            <a:off x="822960" y="4640580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2" name="Image 3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70458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5582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temporal logic failure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325880" y="484174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Jinja2 time-window templates instead of LLM-generated logic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" y="5376672"/>
            <a:ext cx="5577840" cy="804672"/>
          </a:xfrm>
          <a:prstGeom prst="roundRect">
            <a:avLst>
              <a:gd name="adj" fmla="val 6818"/>
            </a:avLst>
          </a:prstGeom>
          <a:solidFill>
            <a:srgbClr val="13294B"/>
          </a:solidFill>
          <a:ln/>
        </p:spPr>
      </p:sp>
      <p:sp>
        <p:nvSpPr>
          <p:cNvPr id="26" name="Shape 20"/>
          <p:cNvSpPr/>
          <p:nvPr/>
        </p:nvSpPr>
        <p:spPr>
          <a:xfrm>
            <a:off x="822960" y="5522976"/>
            <a:ext cx="365760" cy="3657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7" name="Image 4" descr="/home/claude/icons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586984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5440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schema drift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325880" y="572414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Externalized YAML mappings + automated daily schema tests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446520" y="1481328"/>
            <a:ext cx="5120640" cy="4956048"/>
          </a:xfrm>
          <a:prstGeom prst="roundRect">
            <a:avLst>
              <a:gd name="adj" fmla="val 1292"/>
            </a:avLst>
          </a:prstGeom>
          <a:solidFill>
            <a:srgbClr val="16243F"/>
          </a:solidFill>
          <a:ln/>
        </p:spPr>
      </p:sp>
      <p:sp>
        <p:nvSpPr>
          <p:cNvPr id="31" name="Text 24"/>
          <p:cNvSpPr/>
          <p:nvPr/>
        </p:nvSpPr>
        <p:spPr>
          <a:xfrm>
            <a:off x="67208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THIS PROJECT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720840" y="2084832"/>
            <a:ext cx="4572000" cy="804672"/>
          </a:xfrm>
          <a:prstGeom prst="roundRect">
            <a:avLst>
              <a:gd name="adj" fmla="val 6818"/>
            </a:avLst>
          </a:prstGeom>
          <a:solidFill>
            <a:srgbClr val="13294B"/>
          </a:solidFill>
          <a:ln/>
        </p:spPr>
      </p:sp>
      <p:sp>
        <p:nvSpPr>
          <p:cNvPr id="33" name="Shape 26"/>
          <p:cNvSpPr/>
          <p:nvPr/>
        </p:nvSpPr>
        <p:spPr>
          <a:xfrm>
            <a:off x="6903720" y="2221992"/>
            <a:ext cx="868680" cy="530352"/>
          </a:xfrm>
          <a:prstGeom prst="roundRect">
            <a:avLst>
              <a:gd name="adj" fmla="val 8621"/>
            </a:avLst>
          </a:prstGeom>
          <a:solidFill>
            <a:srgbClr val="0D9488"/>
          </a:solidFill>
          <a:ln/>
        </p:spPr>
      </p:sp>
      <p:sp>
        <p:nvSpPr>
          <p:cNvPr id="34" name="Text 27"/>
          <p:cNvSpPr/>
          <p:nvPr/>
        </p:nvSpPr>
        <p:spPr>
          <a:xfrm>
            <a:off x="6903720" y="222199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7909560" y="21579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SIEM platforms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7909560" y="245059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ES|QL, Chronicle YARA-L, QRadar AQL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6720840" y="2967228"/>
            <a:ext cx="4572000" cy="804672"/>
          </a:xfrm>
          <a:prstGeom prst="roundRect">
            <a:avLst>
              <a:gd name="adj" fmla="val 6818"/>
            </a:avLst>
          </a:prstGeom>
          <a:solidFill>
            <a:srgbClr val="13294B"/>
          </a:solidFill>
          <a:ln/>
        </p:spPr>
      </p:sp>
      <p:sp>
        <p:nvSpPr>
          <p:cNvPr id="38" name="Shape 31"/>
          <p:cNvSpPr/>
          <p:nvPr/>
        </p:nvSpPr>
        <p:spPr>
          <a:xfrm>
            <a:off x="6903720" y="3104388"/>
            <a:ext cx="868680" cy="530352"/>
          </a:xfrm>
          <a:prstGeom prst="roundRect">
            <a:avLst>
              <a:gd name="adj" fmla="val 8621"/>
            </a:avLst>
          </a:prstGeom>
          <a:solidFill>
            <a:srgbClr val="0D9488"/>
          </a:solidFill>
          <a:ln/>
        </p:spPr>
      </p:sp>
      <p:sp>
        <p:nvSpPr>
          <p:cNvPr id="39" name="Text 32"/>
          <p:cNvSpPr/>
          <p:nvPr/>
        </p:nvSpPr>
        <p:spPr>
          <a:xfrm>
            <a:off x="6903720" y="310438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7909560" y="30403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 &amp; STIX ingestion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7909560" y="33329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parsing of vendor advisories &amp; CTI feeds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6720840" y="3849624"/>
            <a:ext cx="4572000" cy="804672"/>
          </a:xfrm>
          <a:prstGeom prst="roundRect">
            <a:avLst>
              <a:gd name="adj" fmla="val 6818"/>
            </a:avLst>
          </a:prstGeom>
          <a:solidFill>
            <a:srgbClr val="13294B"/>
          </a:solidFill>
          <a:ln/>
        </p:spPr>
      </p:sp>
      <p:sp>
        <p:nvSpPr>
          <p:cNvPr id="43" name="Shape 36"/>
          <p:cNvSpPr/>
          <p:nvPr/>
        </p:nvSpPr>
        <p:spPr>
          <a:xfrm>
            <a:off x="6903720" y="3986784"/>
            <a:ext cx="868680" cy="530352"/>
          </a:xfrm>
          <a:prstGeom prst="roundRect">
            <a:avLst>
              <a:gd name="adj" fmla="val 8621"/>
            </a:avLst>
          </a:prstGeom>
          <a:solidFill>
            <a:srgbClr val="0D9488"/>
          </a:solidFill>
          <a:ln/>
        </p:spPr>
      </p:sp>
      <p:sp>
        <p:nvSpPr>
          <p:cNvPr id="44" name="Text 37"/>
          <p:cNvSpPr/>
          <p:nvPr/>
        </p:nvSpPr>
        <p:spPr>
          <a:xfrm>
            <a:off x="6903720" y="3986784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7909560" y="39227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specialist models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7909560" y="421538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IR-Builder-7B, SigmaGen-7B at 10% of API cost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6720840" y="4732020"/>
            <a:ext cx="4572000" cy="804672"/>
          </a:xfrm>
          <a:prstGeom prst="roundRect">
            <a:avLst>
              <a:gd name="adj" fmla="val 6818"/>
            </a:avLst>
          </a:prstGeom>
          <a:solidFill>
            <a:srgbClr val="13294B"/>
          </a:solidFill>
          <a:ln/>
        </p:spPr>
      </p:sp>
      <p:sp>
        <p:nvSpPr>
          <p:cNvPr id="48" name="Shape 41"/>
          <p:cNvSpPr/>
          <p:nvPr/>
        </p:nvSpPr>
        <p:spPr>
          <a:xfrm>
            <a:off x="6903720" y="4869180"/>
            <a:ext cx="868680" cy="530352"/>
          </a:xfrm>
          <a:prstGeom prst="roundRect">
            <a:avLst>
              <a:gd name="adj" fmla="val 8621"/>
            </a:avLst>
          </a:prstGeom>
          <a:solidFill>
            <a:srgbClr val="0D9488"/>
          </a:solidFill>
          <a:ln/>
        </p:spPr>
      </p:sp>
      <p:sp>
        <p:nvSpPr>
          <p:cNvPr id="49" name="Text 42"/>
          <p:cNvSpPr/>
          <p:nvPr/>
        </p:nvSpPr>
        <p:spPr>
          <a:xfrm>
            <a:off x="6903720" y="486918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7909560" y="48051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thresholds &amp; LLM-judge</a:t>
            </a:r>
            <a:endParaRPr lang="en-US" sz="1250" dirty="0"/>
          </a:p>
        </p:txBody>
      </p:sp>
      <p:sp>
        <p:nvSpPr>
          <p:cNvPr id="51" name="Text 44"/>
          <p:cNvSpPr/>
          <p:nvPr/>
        </p:nvSpPr>
        <p:spPr>
          <a:xfrm>
            <a:off x="7909560" y="50977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Org-specific baselines; second LLM scores rule quality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6720840" y="5614416"/>
            <a:ext cx="4572000" cy="804672"/>
          </a:xfrm>
          <a:prstGeom prst="roundRect">
            <a:avLst>
              <a:gd name="adj" fmla="val 6818"/>
            </a:avLst>
          </a:prstGeom>
          <a:solidFill>
            <a:srgbClr val="13294B"/>
          </a:solidFill>
          <a:ln/>
        </p:spPr>
      </p:sp>
      <p:sp>
        <p:nvSpPr>
          <p:cNvPr id="53" name="Shape 46"/>
          <p:cNvSpPr/>
          <p:nvPr/>
        </p:nvSpPr>
        <p:spPr>
          <a:xfrm>
            <a:off x="6903720" y="5751576"/>
            <a:ext cx="868680" cy="530352"/>
          </a:xfrm>
          <a:prstGeom prst="roundRect">
            <a:avLst>
              <a:gd name="adj" fmla="val 8621"/>
            </a:avLst>
          </a:prstGeom>
          <a:solidFill>
            <a:srgbClr val="0D9488"/>
          </a:solidFill>
          <a:ln/>
        </p:spPr>
      </p:sp>
      <p:sp>
        <p:nvSpPr>
          <p:cNvPr id="54" name="Text 47"/>
          <p:cNvSpPr/>
          <p:nvPr/>
        </p:nvSpPr>
        <p:spPr>
          <a:xfrm>
            <a:off x="6903720" y="5751576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mo</a:t>
            </a:r>
            <a:endParaRPr lang="en-US" sz="1050" dirty="0"/>
          </a:p>
        </p:txBody>
      </p:sp>
      <p:sp>
        <p:nvSpPr>
          <p:cNvPr id="55" name="Text 48"/>
          <p:cNvSpPr/>
          <p:nvPr/>
        </p:nvSpPr>
        <p:spPr>
          <a:xfrm>
            <a:off x="7909560" y="5687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SOC integration</a:t>
            </a:r>
            <a:endParaRPr lang="en-US" sz="1250" dirty="0"/>
          </a:p>
        </p:txBody>
      </p:sp>
      <p:sp>
        <p:nvSpPr>
          <p:cNvPr id="56" name="Text 49"/>
          <p:cNvSpPr/>
          <p:nvPr/>
        </p:nvSpPr>
        <p:spPr>
          <a:xfrm>
            <a:off x="7909560" y="59801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high-confidence rules; Detection-as-Code CI/CD</a:t>
            </a:r>
            <a:endParaRPr lang="en-US" sz="1050" dirty="0"/>
          </a:p>
        </p:txBody>
      </p:sp>
      <p:sp>
        <p:nvSpPr>
          <p:cNvPr id="57" name="Text 50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58" name="Text 5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Is Worth Pursuing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/home/claude/icons/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345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Problem, A Real Gap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SOCs face a 3–11 day detection lag and &lt;25% ATT&amp;CK coverage. No existing tool combines IR-based abstraction, multi-agent extraction, cross-platform generation, and closed-loop repair.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9202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/home/claude/icons/cub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32" y="20345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14032" y="18928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Principled Solution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28232" y="25603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 a 60-year-old, proven idea — compiler intermediate representations — and applies it to detection engineering for the first time, with a 7-agent LangGraph pipeline.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/home/claude/icons/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4119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70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Rigorous, Falsifiable Evaluation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8680" y="49377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research questions, 5 hypotheses, 5 ablations, and 2 new logic-aware metrics (SRE, EMR) benchmarked against SigmaHQ — not just a demo.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99632" y="406908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4A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297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/home/claude/icons/rock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2532" y="44119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14032" y="42702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E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Feasible &amp; Extensible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28232" y="493776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18-week MVP scoped to Sigma-only output with syntax validation, with a clear path to KQL/SPL, telemetry validation, and autonomous SOC integration.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2926080"/>
            <a:ext cx="5486400" cy="5486400"/>
          </a:xfrm>
          <a:prstGeom prst="ellipse">
            <a:avLst/>
          </a:prstGeom>
          <a:solidFill>
            <a:srgbClr val="0A17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 — A Multi-Agent IR Framework for Autonomous SIEM Rule Generation, Validation &amp; Repair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443484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9" name="Image 0" descr="/home/claude/icons/targe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53542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I'm seeking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5349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scope, feedback on the IR schema design, and approval to begin Phase 1 of the MVP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34840" y="42062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443484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4" name="Image 1" descr="/home/claude/icons/gra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453542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needs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63440" y="5349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review at each of the 5 project phases, with a focus on the evaluation methodology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46720" y="420624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13294B"/>
          </a:solidFill>
          <a:ln/>
        </p:spPr>
      </p:sp>
      <p:sp>
        <p:nvSpPr>
          <p:cNvPr id="18" name="Shape 14"/>
          <p:cNvSpPr/>
          <p:nvPr/>
        </p:nvSpPr>
        <p:spPr>
          <a:xfrm>
            <a:off x="8275320" y="4434840"/>
            <a:ext cx="457200" cy="457200"/>
          </a:xfrm>
          <a:prstGeom prst="ellipse">
            <a:avLst/>
          </a:prstGeom>
          <a:solidFill>
            <a:srgbClr val="5EEAD4"/>
          </a:solidFill>
          <a:ln/>
        </p:spPr>
      </p:sp>
      <p:pic>
        <p:nvPicPr>
          <p:cNvPr id="19" name="Image 2" descr="/home/claude/icons/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453542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7532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75320" y="5349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MVP, benchmark results vs. baselines, and a research paper draft by Week 18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Executable Detection Logic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3100</Words>
  <Application>Microsoft Office PowerPoint</Application>
  <PresentationFormat>Widescreen</PresentationFormat>
  <Paragraphs>500</Paragraphs>
  <Slides>21</Slides>
  <Notes>21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to Executable Detection Logic</dc:title>
  <dc:subject>PptxGenJS Presentation</dc:subject>
  <dc:creator>Mohit</dc:creator>
  <cp:lastModifiedBy>Mohit Kumar</cp:lastModifiedBy>
  <cp:revision>2</cp:revision>
  <dcterms:created xsi:type="dcterms:W3CDTF">2026-06-13T09:27:45Z</dcterms:created>
  <dcterms:modified xsi:type="dcterms:W3CDTF">2026-06-13T17:00:07Z</dcterms:modified>
</cp:coreProperties>
</file>